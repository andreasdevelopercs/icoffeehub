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5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148840"/>
            <a:ext cx="5669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3E2723"/>
                </a:solidFill>
              </a:rPr>
              <a:t>iCoffeeHub.com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658368" y="283464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E342E"/>
                </a:solidFill>
              </a:rPr>
              <a:t>Everything About Coffee. One Global Hub.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406640" y="1325880"/>
            <a:ext cx="3108960" cy="3108960"/>
          </a:xfrm>
          <a:prstGeom prst="arc">
            <a:avLst/>
          </a:prstGeom>
          <a:noFill/>
          <a:ln w="63500">
            <a:solidFill>
              <a:srgbClr val="C9A227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/>
          <p:nvPr/>
        </p:nvSpPr>
        <p:spPr>
          <a:xfrm>
            <a:off x="8001000" y="192024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dirty="0">
                <a:solidFill>
                  <a:srgbClr val="3E2723"/>
                </a:solidFill>
              </a:rPr>
              <a:t>☕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</a:rPr>
              <a:t>iCoffeeHub.com | 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E2723"/>
                </a:solidFill>
              </a:rPr>
              <a:t>Problem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804672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E342E"/>
                </a:solidFill>
              </a:rPr>
              <a:t>Coffee is global, but discovery and trust are fragmented.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1417320"/>
            <a:ext cx="54864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12121"/>
                </a:solidFill>
              </a:rPr>
              <a:t>• Information is scattered across blogs, shops and marketplaces.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85800" y="1920240"/>
            <a:ext cx="54864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12121"/>
                </a:solidFill>
              </a:rPr>
              <a:t>• Premium origin data is difficult for normal consumers to understand.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85800" y="2423160"/>
            <a:ext cx="54864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12121"/>
                </a:solidFill>
              </a:rPr>
              <a:t>• Small roasters and farms lack direct global visibility.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5800" y="2926080"/>
            <a:ext cx="54864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12121"/>
                </a:solidFill>
              </a:rPr>
              <a:t>• Delivery availability is often unclear until checkout.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315200" y="1371600"/>
            <a:ext cx="3931920" cy="347472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79792" y="1508760"/>
            <a:ext cx="3602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E2723"/>
                </a:solidFill>
              </a:rPr>
              <a:t>Market gap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479792" y="1828800"/>
            <a:ext cx="3602736" cy="28803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212121"/>
                </a:solidFill>
              </a:rPr>
              <a:t>No dominant global platform combines coffee knowledge, premium commerce, AI guidance, origin transparency, seller tools and local delivery logic.</a:t>
            </a:r>
            <a:endParaRPr lang="en-US" sz="1080" dirty="0"/>
          </a:p>
        </p:txBody>
      </p:sp>
      <p:sp>
        <p:nvSpPr>
          <p:cNvPr id="11" name="Text 9"/>
          <p:cNvSpPr/>
          <p:nvPr/>
        </p:nvSpPr>
        <p:spPr>
          <a:xfrm>
            <a:off x="548640" y="644652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</a:rPr>
              <a:t>iCoffeeHub.com | 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E2723"/>
                </a:solidFill>
              </a:rPr>
              <a:t>Solution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804672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E342E"/>
                </a:solidFill>
              </a:rPr>
              <a:t>A complete coffee ecosystem.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914400" y="2011680"/>
            <a:ext cx="914400" cy="914400"/>
          </a:xfrm>
          <a:prstGeom prst="ellipse">
            <a:avLst/>
          </a:prstGeom>
          <a:solidFill>
            <a:srgbClr val="4E342E"/>
          </a:solidFill>
          <a:ln w="12700">
            <a:solidFill>
              <a:srgbClr val="4E34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7552" y="2212848"/>
            <a:ext cx="768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30175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E2723"/>
                </a:solidFill>
              </a:rPr>
              <a:t>Learn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0" y="2011680"/>
            <a:ext cx="914400" cy="914400"/>
          </a:xfrm>
          <a:prstGeom prst="ellipse">
            <a:avLst/>
          </a:prstGeom>
          <a:solidFill>
            <a:srgbClr val="4E342E"/>
          </a:solidFill>
          <a:ln w="12700">
            <a:solidFill>
              <a:srgbClr val="4E34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816352" y="2212848"/>
            <a:ext cx="768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468880" y="30175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E2723"/>
                </a:solidFill>
              </a:rPr>
              <a:t>Discover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0" y="2011680"/>
            <a:ext cx="914400" cy="914400"/>
          </a:xfrm>
          <a:prstGeom prst="ellipse">
            <a:avLst/>
          </a:prstGeom>
          <a:solidFill>
            <a:srgbClr val="4E342E"/>
          </a:solidFill>
          <a:ln w="12700">
            <a:solidFill>
              <a:srgbClr val="4E34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45152" y="2212848"/>
            <a:ext cx="768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297680" y="30175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E2723"/>
                </a:solidFill>
              </a:rPr>
              <a:t>Order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00800" y="2011680"/>
            <a:ext cx="914400" cy="914400"/>
          </a:xfrm>
          <a:prstGeom prst="ellipse">
            <a:avLst/>
          </a:prstGeom>
          <a:solidFill>
            <a:srgbClr val="4E342E"/>
          </a:solidFill>
          <a:ln w="12700">
            <a:solidFill>
              <a:srgbClr val="4E342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73952" y="2212848"/>
            <a:ext cx="768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126480" y="30175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E2723"/>
                </a:solidFill>
              </a:rPr>
              <a:t>Review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229600" y="2011680"/>
            <a:ext cx="914400" cy="914400"/>
          </a:xfrm>
          <a:prstGeom prst="ellipse">
            <a:avLst/>
          </a:prstGeom>
          <a:solidFill>
            <a:srgbClr val="4E342E"/>
          </a:solidFill>
          <a:ln w="12700">
            <a:solidFill>
              <a:srgbClr val="4E342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02752" y="2212848"/>
            <a:ext cx="768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955280" y="30175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E2723"/>
                </a:solidFill>
              </a:rPr>
              <a:t>Subscribe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0058400" y="2011680"/>
            <a:ext cx="914400" cy="914400"/>
          </a:xfrm>
          <a:prstGeom prst="ellipse">
            <a:avLst/>
          </a:prstGeom>
          <a:solidFill>
            <a:srgbClr val="4E342E"/>
          </a:solidFill>
          <a:ln w="12700">
            <a:solidFill>
              <a:srgbClr val="4E342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131552" y="2212848"/>
            <a:ext cx="768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6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784080" y="30175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E2723"/>
                </a:solidFill>
              </a:rPr>
              <a:t>Personalize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22960" y="4023360"/>
            <a:ext cx="105156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12121"/>
                </a:solidFill>
              </a:rPr>
              <a:t>• Coffee encyclopedia, countries, farms, roasters, shops and recipes.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22960" y="4526280"/>
            <a:ext cx="105156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12121"/>
                </a:solidFill>
              </a:rPr>
              <a:t>• Marketplace for premium coffee and equipment.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22960" y="5029200"/>
            <a:ext cx="105156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12121"/>
                </a:solidFill>
              </a:rPr>
              <a:t>• AI assistant for recommendations and brewing troubleshooting.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48640" y="644652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</a:rPr>
              <a:t>iCoffeeHub.com | 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E2723"/>
                </a:solidFill>
              </a:rPr>
              <a:t>Product Pillars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804672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E342E"/>
                </a:solidFill>
              </a:rPr>
              <a:t>Content, commerce, community and AI reinforce each other.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3246120" cy="150876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58952" y="1554480"/>
            <a:ext cx="2916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E2723"/>
                </a:solidFill>
              </a:rPr>
              <a:t>Encyclopedia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58952" y="1874520"/>
            <a:ext cx="2916936" cy="9144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212121"/>
                </a:solidFill>
              </a:rPr>
              <a:t>Coffee history, varieties, countries, farms and brewing guides.</a:t>
            </a:r>
            <a:endParaRPr lang="en-US" sz="1080" dirty="0"/>
          </a:p>
        </p:txBody>
      </p:sp>
      <p:sp>
        <p:nvSpPr>
          <p:cNvPr id="7" name="Shape 5"/>
          <p:cNvSpPr/>
          <p:nvPr/>
        </p:nvSpPr>
        <p:spPr>
          <a:xfrm>
            <a:off x="4343400" y="1417320"/>
            <a:ext cx="3246120" cy="150876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07992" y="1554480"/>
            <a:ext cx="2916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E2723"/>
                </a:solidFill>
              </a:rPr>
              <a:t>Marketplace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07992" y="1874520"/>
            <a:ext cx="2916936" cy="9144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212121"/>
                </a:solidFill>
              </a:rPr>
              <a:t>Premium coffee, subscriptions, equipment and gifts.</a:t>
            </a:r>
            <a:endParaRPr lang="en-US" sz="1080" dirty="0"/>
          </a:p>
        </p:txBody>
      </p:sp>
      <p:sp>
        <p:nvSpPr>
          <p:cNvPr id="10" name="Shape 8"/>
          <p:cNvSpPr/>
          <p:nvPr/>
        </p:nvSpPr>
        <p:spPr>
          <a:xfrm>
            <a:off x="8092440" y="1417320"/>
            <a:ext cx="3246120" cy="150876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57032" y="1554480"/>
            <a:ext cx="2916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E2723"/>
                </a:solidFill>
              </a:rPr>
              <a:t>Seller Portal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257032" y="1874520"/>
            <a:ext cx="2916936" cy="9144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212121"/>
                </a:solidFill>
              </a:rPr>
              <a:t>Provider onboarding, products, stock, zones and analytics.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594360" y="3429000"/>
            <a:ext cx="3246120" cy="150876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58952" y="3566160"/>
            <a:ext cx="2916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E2723"/>
                </a:solidFill>
              </a:rPr>
              <a:t>AI Assistant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58952" y="3886200"/>
            <a:ext cx="2916936" cy="9144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212121"/>
                </a:solidFill>
              </a:rPr>
              <a:t>Taste matching, grinder advice and brewing help.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4343400" y="3429000"/>
            <a:ext cx="3246120" cy="150876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07992" y="3566160"/>
            <a:ext cx="2916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E2723"/>
                </a:solidFill>
              </a:rPr>
              <a:t>Community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507992" y="3886200"/>
            <a:ext cx="2916936" cy="9144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212121"/>
                </a:solidFill>
              </a:rPr>
              <a:t>Reviews, collections, profiles and journals.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8092440" y="3429000"/>
            <a:ext cx="3246120" cy="150876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57032" y="3566160"/>
            <a:ext cx="2916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E2723"/>
                </a:solidFill>
              </a:rPr>
              <a:t>Mobile App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257032" y="3886200"/>
            <a:ext cx="2916936" cy="9144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212121"/>
                </a:solidFill>
              </a:rPr>
              <a:t>Scanner, brewing timer and offline journal.</a:t>
            </a:r>
            <a:endParaRPr lang="en-US" sz="1080" dirty="0"/>
          </a:p>
        </p:txBody>
      </p:sp>
      <p:sp>
        <p:nvSpPr>
          <p:cNvPr id="22" name="Text 20"/>
          <p:cNvSpPr/>
          <p:nvPr/>
        </p:nvSpPr>
        <p:spPr>
          <a:xfrm>
            <a:off x="548640" y="644652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</a:rPr>
              <a:t>iCoffeeHub.com | 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E2723"/>
                </a:solidFill>
              </a:rPr>
              <a:t>Business Model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804672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E342E"/>
                </a:solidFill>
              </a:rPr>
              <a:t>Multiple monetization streams.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1417320"/>
            <a:ext cx="54864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12121"/>
                </a:solidFill>
              </a:rPr>
              <a:t>• Marketplace commission on coffee and equipment sales.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85800" y="1920240"/>
            <a:ext cx="54864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12121"/>
                </a:solidFill>
              </a:rPr>
              <a:t>• Seller subscriptions and featured listings.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85800" y="2423160"/>
            <a:ext cx="54864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12121"/>
                </a:solidFill>
              </a:rPr>
              <a:t>• Premium customer memberships and subscription boxes.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5800" y="2926080"/>
            <a:ext cx="54864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12121"/>
                </a:solidFill>
              </a:rPr>
              <a:t>• Courses, certificates, ads, affiliates and B2B sourcing fees.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315200" y="1417320"/>
            <a:ext cx="4023360" cy="347472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79792" y="1554480"/>
            <a:ext cx="3694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E2723"/>
                </a:solidFill>
              </a:rPr>
              <a:t>Long-term upside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479792" y="1874520"/>
            <a:ext cx="3694176" cy="28803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212121"/>
                </a:solidFill>
              </a:rPr>
              <a:t>The content layer drives SEO demand. The marketplace monetizes intent. The AI layer improves conversion and retention.</a:t>
            </a:r>
            <a:endParaRPr lang="en-US" sz="1080" dirty="0"/>
          </a:p>
        </p:txBody>
      </p:sp>
      <p:sp>
        <p:nvSpPr>
          <p:cNvPr id="11" name="Text 9"/>
          <p:cNvSpPr/>
          <p:nvPr/>
        </p:nvSpPr>
        <p:spPr>
          <a:xfrm>
            <a:off x="548640" y="644652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</a:rPr>
              <a:t>iCoffeeHub.com | 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E2723"/>
                </a:solidFill>
              </a:rPr>
              <a:t>Account Model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804672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E342E"/>
                </a:solidFill>
              </a:rPr>
              <a:t>Three account types with clear permissions.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85800" y="1417320"/>
            <a:ext cx="3291840" cy="35661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0392" y="1554480"/>
            <a:ext cx="2962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E2723"/>
                </a:solidFill>
              </a:rPr>
              <a:t>Admin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50392" y="1874520"/>
            <a:ext cx="2962656" cy="29718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212121"/>
                </a:solidFill>
              </a:rPr>
              <a:t>Created only by another admin. Manages users, sellers, content, orders, payments, moderation, analytics and configuration.</a:t>
            </a:r>
            <a:endParaRPr lang="en-US" sz="1080" dirty="0"/>
          </a:p>
        </p:txBody>
      </p:sp>
      <p:sp>
        <p:nvSpPr>
          <p:cNvPr id="7" name="Shape 5"/>
          <p:cNvSpPr/>
          <p:nvPr/>
        </p:nvSpPr>
        <p:spPr>
          <a:xfrm>
            <a:off x="4434840" y="1417320"/>
            <a:ext cx="3291840" cy="35661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99432" y="1554480"/>
            <a:ext cx="2962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E2723"/>
                </a:solidFill>
              </a:rPr>
              <a:t>Seller / Provider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99432" y="1874520"/>
            <a:ext cx="2962656" cy="29718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212121"/>
                </a:solidFill>
              </a:rPr>
              <a:t>Self-registers on seller subdomain or is created by admin. Manages products, inventory, shipping zones, orders and analytics.</a:t>
            </a:r>
            <a:endParaRPr lang="en-US" sz="1080" dirty="0"/>
          </a:p>
        </p:txBody>
      </p:sp>
      <p:sp>
        <p:nvSpPr>
          <p:cNvPr id="10" name="Shape 8"/>
          <p:cNvSpPr/>
          <p:nvPr/>
        </p:nvSpPr>
        <p:spPr>
          <a:xfrm>
            <a:off x="8183880" y="1417320"/>
            <a:ext cx="3291840" cy="35661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48472" y="1554480"/>
            <a:ext cx="2962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E2723"/>
                </a:solidFill>
              </a:rPr>
              <a:t>Customer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348472" y="1874520"/>
            <a:ext cx="2962656" cy="29718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212121"/>
                </a:solidFill>
              </a:rPr>
              <a:t>Registers on site/app, orders premium coffee by delivery area, reviews, subscribes and uses AI recommendations.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548640" y="644652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</a:rPr>
              <a:t>iCoffeeHub.com | 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E2723"/>
                </a:solidFill>
              </a:rPr>
              <a:t>SEO Engine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804672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E342E"/>
                </a:solidFill>
              </a:rPr>
              <a:t>Designed for 100,000+ high-quality indexed pages.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1417320"/>
            <a:ext cx="54864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12121"/>
                </a:solidFill>
              </a:rPr>
              <a:t>• 500+ coffee varieties and 100+ countries/regions.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85800" y="1920240"/>
            <a:ext cx="54864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12121"/>
                </a:solidFill>
              </a:rPr>
              <a:t>• 10,000+ farms, 5,000+ roasters and 100,000+ cafes.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85800" y="2423160"/>
            <a:ext cx="54864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12121"/>
                </a:solidFill>
              </a:rPr>
              <a:t>• 2,000+ brewing guides, 5,000+ equipment reviews and 1,000+ recipes.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5800" y="2926080"/>
            <a:ext cx="54864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12121"/>
                </a:solidFill>
              </a:rPr>
              <a:t>• 20,000+ product pages plus daily news and market updates.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644652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</a:rPr>
              <a:t>iCoffeeHub.com | 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E2723"/>
                </a:solidFill>
              </a:rPr>
              <a:t>Go-to-Market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804672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E342E"/>
                </a:solidFill>
              </a:rPr>
              <a:t>Start curated, then scale through content and sellers.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85800" y="1417320"/>
            <a:ext cx="3200400" cy="32918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0392" y="1554480"/>
            <a:ext cx="2871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E2723"/>
                </a:solidFill>
              </a:rPr>
              <a:t>Phase 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50392" y="1874520"/>
            <a:ext cx="2871216" cy="2697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212121"/>
                </a:solidFill>
              </a:rPr>
              <a:t>Launch with curated premium coffees, core marketplace, English/Greek content, trusted sellers and SEO foundation.</a:t>
            </a:r>
            <a:endParaRPr lang="en-US" sz="1080" dirty="0"/>
          </a:p>
        </p:txBody>
      </p:sp>
      <p:sp>
        <p:nvSpPr>
          <p:cNvPr id="7" name="Shape 5"/>
          <p:cNvSpPr/>
          <p:nvPr/>
        </p:nvSpPr>
        <p:spPr>
          <a:xfrm>
            <a:off x="4480560" y="1417320"/>
            <a:ext cx="3200400" cy="32918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45152" y="1554480"/>
            <a:ext cx="2871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E2723"/>
                </a:solidFill>
              </a:rPr>
              <a:t>Phase 2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645152" y="1874520"/>
            <a:ext cx="2871216" cy="2697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212121"/>
                </a:solidFill>
              </a:rPr>
              <a:t>Scale guides, country pages, reviews, AI taste quiz, subscriptions and partnerships with baristas/roasters.</a:t>
            </a:r>
            <a:endParaRPr lang="en-US" sz="1080" dirty="0"/>
          </a:p>
        </p:txBody>
      </p:sp>
      <p:sp>
        <p:nvSpPr>
          <p:cNvPr id="10" name="Shape 8"/>
          <p:cNvSpPr/>
          <p:nvPr/>
        </p:nvSpPr>
        <p:spPr>
          <a:xfrm>
            <a:off x="8275320" y="1417320"/>
            <a:ext cx="3200400" cy="32918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39912" y="1554480"/>
            <a:ext cx="2871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E2723"/>
                </a:solidFill>
              </a:rPr>
              <a:t>Phase 3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439912" y="1874520"/>
            <a:ext cx="2871216" cy="2697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212121"/>
                </a:solidFill>
              </a:rPr>
              <a:t>Global seller onboarding, delivery zones, mobile app, B2B sourcing and API/data products.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548640" y="644652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</a:rPr>
              <a:t>iCoffeeHub.com | 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E2723"/>
                </a:solidFill>
              </a:rPr>
              <a:t>Financial Logic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804672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E342E"/>
                </a:solidFill>
              </a:rPr>
              <a:t>Marketplace revenue compounds with content and retention.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1417320"/>
            <a:ext cx="54864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12121"/>
                </a:solidFill>
              </a:rPr>
              <a:t>• Revenue streams diversify beyond transaction fees.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85800" y="1920240"/>
            <a:ext cx="54864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12121"/>
                </a:solidFill>
              </a:rPr>
              <a:t>• Subscription boxes improve predictability.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85800" y="2423160"/>
            <a:ext cx="54864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12121"/>
                </a:solidFill>
              </a:rPr>
              <a:t>• Seller subscriptions monetize supply-side tools.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5800" y="2926080"/>
            <a:ext cx="54864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12121"/>
                </a:solidFill>
              </a:rPr>
              <a:t>• SEO reduces dependence on paid acquisition over time.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315200" y="1417320"/>
            <a:ext cx="3931920" cy="347472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79792" y="1554480"/>
            <a:ext cx="3602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E2723"/>
                </a:solidFill>
              </a:rPr>
              <a:t>5-year model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479792" y="1874520"/>
            <a:ext cx="3602736" cy="28803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212121"/>
                </a:solidFill>
              </a:rPr>
              <a:t>Base case reaches profitability after marketplace scale, repeat purchasing and marketing efficiency improve.</a:t>
            </a:r>
            <a:endParaRPr lang="en-US" sz="1080" dirty="0"/>
          </a:p>
        </p:txBody>
      </p:sp>
      <p:sp>
        <p:nvSpPr>
          <p:cNvPr id="11" name="Text 9"/>
          <p:cNvSpPr/>
          <p:nvPr/>
        </p:nvSpPr>
        <p:spPr>
          <a:xfrm>
            <a:off x="548640" y="644652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</a:rPr>
              <a:t>iCoffeeHub.com | 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E2723"/>
                </a:solidFill>
              </a:rPr>
              <a:t>Technology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804672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E342E"/>
                </a:solidFill>
              </a:rPr>
              <a:t>Built for scale, localization and AI.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1417320"/>
            <a:ext cx="54864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12121"/>
                </a:solidFill>
              </a:rPr>
              <a:t>• Next.js/React front end with multilingual SEO.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85800" y="1920240"/>
            <a:ext cx="54864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12121"/>
                </a:solidFill>
              </a:rPr>
              <a:t>• Backend microservices: identity, catalog, orders, sellers, content, AI, logistics and payments.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85800" y="2423160"/>
            <a:ext cx="54864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12121"/>
                </a:solidFill>
              </a:rPr>
              <a:t>• PostgreSQL, OpenSearch, Redis and object storage/CDN.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5800" y="2926080"/>
            <a:ext cx="54864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12121"/>
                </a:solidFill>
              </a:rPr>
              <a:t>• LLM grounded in verified content and catalog data.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644652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</a:rPr>
              <a:t>iCoffeeHub.com | 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E2723"/>
                </a:solidFill>
              </a:rPr>
              <a:t>Roadmap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804672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E342E"/>
                </a:solidFill>
              </a:rPr>
              <a:t>From MVP to global coffee graph.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1417320"/>
            <a:ext cx="54864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12121"/>
                </a:solidFill>
              </a:rPr>
              <a:t>• MVP: accounts, catalog, seller portal, admin portal, checkout and delivery zones.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85800" y="1920240"/>
            <a:ext cx="54864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12121"/>
                </a:solidFill>
              </a:rPr>
              <a:t>• Phase 2: encyclopedia, reviews, subscriptions, AI assistant and multilingual content.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85800" y="2423160"/>
            <a:ext cx="54864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12121"/>
                </a:solidFill>
              </a:rPr>
              <a:t>• Phase 3: mobile app, logistics integrations, B2B sourcing and courses.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5800" y="2926080"/>
            <a:ext cx="54864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12121"/>
                </a:solidFill>
              </a:rPr>
              <a:t>• Phase 4: API, data products, global coffee graph and enterprise partnerships.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644652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</a:rPr>
              <a:t>iCoffeeHub.com | 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5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E2723"/>
                </a:solidFill>
              </a:rPr>
              <a:t>Investment Ask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804672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E342E"/>
                </a:solidFill>
              </a:rPr>
              <a:t>Funding accelerates supply, technology and SEO scale.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1417320"/>
            <a:ext cx="54864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12121"/>
                </a:solidFill>
              </a:rPr>
              <a:t>• Build the MVP and seller portal.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85800" y="1920240"/>
            <a:ext cx="54864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12121"/>
                </a:solidFill>
              </a:rPr>
              <a:t>• Acquire curated sellers and premium coffee inventory.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85800" y="2423160"/>
            <a:ext cx="54864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12121"/>
                </a:solidFill>
              </a:rPr>
              <a:t>• Produce multilingual content at scale.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5800" y="2926080"/>
            <a:ext cx="54864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12121"/>
                </a:solidFill>
              </a:rPr>
              <a:t>• Launch AI personalization and mobile app.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3429000"/>
            <a:ext cx="54864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12121"/>
                </a:solidFill>
              </a:rPr>
              <a:t>• Create a trusted global coffee destination.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406640" y="42062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E2723"/>
                </a:solidFill>
              </a:rPr>
              <a:t>Thank you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548640" y="644652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</a:rPr>
              <a:t>iCoffeeHub.com | 12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iCoffeeHub.com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iCoffeeHub Investor Pitch Deck</dc:title>
  <dc:subject>Investor Pitch Deck</dc:subject>
  <dc:creator>iCoffeeHub</dc:creator>
  <cp:lastModifiedBy>iCoffeeHub</cp:lastModifiedBy>
  <cp:revision>1</cp:revision>
  <dcterms:created xsi:type="dcterms:W3CDTF">2026-08-06T21:12:22Z</dcterms:created>
  <dcterms:modified xsi:type="dcterms:W3CDTF">2026-08-06T21:12:22Z</dcterms:modified>
</cp:coreProperties>
</file>